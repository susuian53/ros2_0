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280" r:id="rId5"/>
    <p:sldId id="324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D0CA"/>
    <a:srgbClr val="0D1325"/>
    <a:srgbClr val="8EE0DC"/>
    <a:srgbClr val="2A99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2" y="144"/>
      </p:cViewPr>
      <p:guideLst>
        <p:guide orient="horz" pos="215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CDDB4-6553-4F69-92A5-864D752883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39D0A-ED8E-4A87-BA33-B024370FBD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39D0A-ED8E-4A87-BA33-B024370FBD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39D0A-ED8E-4A87-BA33-B024370FBD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39D0A-ED8E-4A87-BA33-B024370FBD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AD4C7-00E1-484E-ADC6-80BED9BCD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B093F-DDD8-4FA1-B0B2-6BD78FD0BB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7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l="68594" t="65577" b="15737"/>
          <a:stretch>
            <a:fillRect/>
          </a:stretch>
        </p:blipFill>
        <p:spPr>
          <a:xfrm>
            <a:off x="0" y="0"/>
            <a:ext cx="6289658" cy="374332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961" y="901699"/>
            <a:ext cx="5402077" cy="54070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/>
          <a:srcRect b="67550"/>
          <a:stretch>
            <a:fillRect/>
          </a:stretch>
        </p:blipFill>
        <p:spPr>
          <a:xfrm rot="19048470">
            <a:off x="7724422" y="2530588"/>
            <a:ext cx="10013678" cy="3252438"/>
          </a:xfrm>
          <a:custGeom>
            <a:avLst/>
            <a:gdLst>
              <a:gd name="connsiteX0" fmla="*/ 5766606 w 10013678"/>
              <a:gd name="connsiteY0" fmla="*/ 0 h 3252438"/>
              <a:gd name="connsiteX1" fmla="*/ 2783632 w 10013678"/>
              <a:gd name="connsiteY1" fmla="*/ 3252438 h 3252438"/>
              <a:gd name="connsiteX2" fmla="*/ 0 w 10013678"/>
              <a:gd name="connsiteY2" fmla="*/ 699430 h 3252438"/>
              <a:gd name="connsiteX3" fmla="*/ 0 w 10013678"/>
              <a:gd name="connsiteY3" fmla="*/ 0 h 3252438"/>
              <a:gd name="connsiteX4" fmla="*/ 10013678 w 10013678"/>
              <a:gd name="connsiteY4" fmla="*/ 0 h 3252438"/>
              <a:gd name="connsiteX5" fmla="*/ 10013678 w 10013678"/>
              <a:gd name="connsiteY5" fmla="*/ 229291 h 3252438"/>
              <a:gd name="connsiteX6" fmla="*/ 9763673 w 10013678"/>
              <a:gd name="connsiteY6" fmla="*/ 0 h 32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3678" h="3252438">
                <a:moveTo>
                  <a:pt x="5766606" y="0"/>
                </a:moveTo>
                <a:lnTo>
                  <a:pt x="2783632" y="3252438"/>
                </a:lnTo>
                <a:lnTo>
                  <a:pt x="0" y="699430"/>
                </a:lnTo>
                <a:lnTo>
                  <a:pt x="0" y="0"/>
                </a:lnTo>
                <a:close/>
                <a:moveTo>
                  <a:pt x="10013678" y="0"/>
                </a:moveTo>
                <a:lnTo>
                  <a:pt x="10013678" y="229291"/>
                </a:lnTo>
                <a:lnTo>
                  <a:pt x="9763673" y="0"/>
                </a:lnTo>
                <a:close/>
              </a:path>
            </a:pathLst>
          </a:custGeom>
        </p:spPr>
      </p:pic>
      <p:sp>
        <p:nvSpPr>
          <p:cNvPr id="50" name="矩形 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0D1325"/>
              </a:gs>
              <a:gs pos="0">
                <a:srgbClr val="0D1325">
                  <a:alpha val="50000"/>
                </a:srgbClr>
              </a:gs>
              <a:gs pos="44000">
                <a:srgbClr val="0D1325">
                  <a:alpha val="56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2033069" y="2075544"/>
            <a:ext cx="24434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zh-CN" alt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734515" y="2366629"/>
            <a:ext cx="37201" cy="1671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890135" y="3600450"/>
            <a:ext cx="5098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rgbClr val="54D0CA"/>
                </a:solidFill>
              </a:rPr>
              <a:t>智能系统创新设计赛</a:t>
            </a:r>
            <a:endParaRPr lang="zh-CN" altLang="en-US" sz="2800" dirty="0">
              <a:solidFill>
                <a:srgbClr val="54D0CA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890251" y="2075811"/>
            <a:ext cx="509896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bg1"/>
                </a:solidFill>
              </a:rPr>
              <a:t>全国大学生计算机系统能力大赛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94" name="直接连接符 93"/>
          <p:cNvCxnSpPr/>
          <p:nvPr/>
        </p:nvCxnSpPr>
        <p:spPr>
          <a:xfrm>
            <a:off x="4902952" y="3446650"/>
            <a:ext cx="5098967" cy="0"/>
          </a:xfrm>
          <a:prstGeom prst="line">
            <a:avLst/>
          </a:prstGeom>
          <a:ln w="22225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圆角矩形 95"/>
          <p:cNvSpPr/>
          <p:nvPr/>
        </p:nvSpPr>
        <p:spPr>
          <a:xfrm>
            <a:off x="4771708" y="4869387"/>
            <a:ext cx="1320658" cy="360103"/>
          </a:xfrm>
          <a:prstGeom prst="roundRect">
            <a:avLst>
              <a:gd name="adj" fmla="val 50000"/>
            </a:avLst>
          </a:prstGeom>
          <a:solidFill>
            <a:srgbClr val="2A999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作品</a:t>
            </a:r>
            <a:r>
              <a:rPr lang="zh-CN" altLang="en-US" sz="1400" dirty="0">
                <a:solidFill>
                  <a:schemeClr val="bg1"/>
                </a:solidFill>
              </a:rPr>
              <a:t>介绍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6455235" y="4869387"/>
            <a:ext cx="1320658" cy="360103"/>
          </a:xfrm>
          <a:prstGeom prst="roundRect">
            <a:avLst>
              <a:gd name="adj" fmla="val 50000"/>
            </a:avLst>
          </a:prstGeom>
          <a:solidFill>
            <a:srgbClr val="2A999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创新</a:t>
            </a:r>
            <a:r>
              <a:rPr lang="zh-CN" altLang="en-US" sz="1400" dirty="0">
                <a:solidFill>
                  <a:schemeClr val="bg1"/>
                </a:solidFill>
              </a:rPr>
              <a:t>特点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78350" y="6207125"/>
            <a:ext cx="303530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菜狗驿站/</a:t>
            </a:r>
            <a:r>
              <a:rPr lang="en-US" altLang="zh-CN">
                <a:solidFill>
                  <a:schemeClr val="bg1"/>
                </a:solidFill>
              </a:rPr>
              <a:t>project2731219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1" dur="1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2" dur="1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5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6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2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9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0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7" presetClass="entr" presetSubtype="1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41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 tmFilter="0,0; .5, 1; 1, 1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47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25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8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9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0" presetClass="entr" presetSubtype="0" decel="100000" fill="hold" grpId="0" nodeType="withEffect">
                                      <p:stCondLst>
                                        <p:cond delay="62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10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50" presetClass="entr" presetSubtype="0" decel="100000" fill="hold" grpId="0" nodeType="withEffect">
                                      <p:stCondLst>
                                        <p:cond delay="62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/>
          <p:bldP spid="53" grpId="0" animBg="1"/>
          <p:bldP spid="54" grpId="0"/>
          <p:bldP spid="55" grpId="0"/>
          <p:bldP spid="96" grpId="0" bldLvl="0" animBg="1"/>
          <p:bldP spid="98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7" presetClass="entr" presetSubtype="1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41" presetClass="entr" presetSubtype="0" fill="hold" grpId="0" nodeType="withEffect">
                                      <p:stCondLst>
                                        <p:cond delay="3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 tmFilter="0,0; .5, 1; 1, 1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nodeType="withEffect">
                                      <p:stCondLst>
                                        <p:cond delay="47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25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8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9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0" presetClass="entr" presetSubtype="0" decel="100000" fill="hold" grpId="0" nodeType="withEffect">
                                      <p:stCondLst>
                                        <p:cond delay="62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10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50" presetClass="entr" presetSubtype="0" decel="100000" fill="hold" grpId="0" nodeType="withEffect">
                                      <p:stCondLst>
                                        <p:cond delay="62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/>
          <p:bldP spid="53" grpId="0" animBg="1"/>
          <p:bldP spid="54" grpId="0"/>
          <p:bldP spid="55" grpId="0"/>
          <p:bldP spid="96" grpId="0" bldLvl="0" animBg="1"/>
          <p:bldP spid="98" grpId="0" bldLvl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47675" y="367239"/>
            <a:ext cx="513548" cy="575736"/>
            <a:chOff x="447675" y="367239"/>
            <a:chExt cx="513548" cy="575736"/>
          </a:xfrm>
        </p:grpSpPr>
        <p:sp>
          <p:nvSpPr>
            <p:cNvPr id="31" name="等腰三角形 30"/>
            <p:cNvSpPr/>
            <p:nvPr/>
          </p:nvSpPr>
          <p:spPr>
            <a:xfrm rot="5400000">
              <a:off x="414282" y="400632"/>
              <a:ext cx="484204" cy="417418"/>
            </a:xfrm>
            <a:prstGeom prst="triangl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581357" y="563109"/>
              <a:ext cx="408004" cy="351728"/>
            </a:xfrm>
            <a:prstGeom prst="triangle">
              <a:avLst/>
            </a:prstGeom>
            <a:solidFill>
              <a:srgbClr val="2A999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矩形 32"/>
          <p:cNvSpPr/>
          <p:nvPr/>
        </p:nvSpPr>
        <p:spPr>
          <a:xfrm>
            <a:off x="1017388" y="452466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70000"/>
                      </a:schemeClr>
                    </a:gs>
                  </a:gsLst>
                  <a:lin ang="2700000" scaled="1"/>
                </a:gradFill>
                <a:effectLst/>
              </a:rPr>
              <a:t>作品介绍</a:t>
            </a:r>
            <a:endParaRPr lang="zh-CN" altLang="en-US" sz="2000" dirty="0">
              <a:gradFill>
                <a:gsLst>
                  <a:gs pos="0">
                    <a:schemeClr val="bg1"/>
                  </a:gs>
                  <a:gs pos="100000">
                    <a:schemeClr val="bg1">
                      <a:alpha val="70000"/>
                    </a:schemeClr>
                  </a:gs>
                </a:gsLst>
                <a:lin ang="2700000" scaled="1"/>
              </a:gradFill>
              <a:effectLst/>
            </a:endParaRPr>
          </a:p>
        </p:txBody>
      </p:sp>
      <p:pic>
        <p:nvPicPr>
          <p:cNvPr id="23" name="图片 22" descr="截屏2024-07-09 15.30.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77035"/>
            <a:ext cx="2997200" cy="17399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09600" y="3869055"/>
            <a:ext cx="2997200" cy="1336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四个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lcm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分别用于发布步态、运动指令、订阅机器狗位置信息和状态信息。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470400" y="3883660"/>
            <a:ext cx="30524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包含所有步态，从上至下依次是三个自定义蹄形步态以及基本步态。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385810" y="3883660"/>
            <a:ext cx="28917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项目运行的主要程序，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test.py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是程序入口及运行主逻辑，其他分别是对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lcm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ros2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节点的订阅，自定义步态的发布，对机器狗动作的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发布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231900" y="5657850"/>
            <a:ext cx="9728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**运行说明**：先启动机器狗的仿真平台，强制要求在项目的根目录下code文件夹下直接运行`python3 </a:t>
            </a:r>
            <a:r>
              <a:rPr lang="en-US" altLang="zh-CN">
                <a:solidFill>
                  <a:schemeClr val="bg1"/>
                </a:solidFill>
              </a:rPr>
              <a:t>test</a:t>
            </a:r>
            <a:r>
              <a:rPr lang="zh-CN" altLang="en-US">
                <a:solidFill>
                  <a:schemeClr val="bg1"/>
                </a:solidFill>
              </a:rPr>
              <a:t>.py`指令执行，即可看到机器狗的通关视频。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805" y="1998345"/>
            <a:ext cx="3429635" cy="1279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445" y="1677035"/>
            <a:ext cx="3105150" cy="1993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47675" y="367239"/>
            <a:ext cx="513548" cy="575736"/>
            <a:chOff x="447675" y="367239"/>
            <a:chExt cx="513548" cy="575736"/>
          </a:xfrm>
        </p:grpSpPr>
        <p:sp>
          <p:nvSpPr>
            <p:cNvPr id="31" name="等腰三角形 30"/>
            <p:cNvSpPr/>
            <p:nvPr/>
          </p:nvSpPr>
          <p:spPr>
            <a:xfrm rot="5400000">
              <a:off x="414282" y="400632"/>
              <a:ext cx="484204" cy="417418"/>
            </a:xfrm>
            <a:prstGeom prst="triangl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581357" y="563109"/>
              <a:ext cx="408004" cy="351728"/>
            </a:xfrm>
            <a:prstGeom prst="triangle">
              <a:avLst/>
            </a:prstGeom>
            <a:solidFill>
              <a:srgbClr val="2A999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矩形 32"/>
          <p:cNvSpPr/>
          <p:nvPr/>
        </p:nvSpPr>
        <p:spPr>
          <a:xfrm>
            <a:off x="1017388" y="452466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70000"/>
                      </a:schemeClr>
                    </a:gs>
                  </a:gsLst>
                  <a:lin ang="2700000" scaled="1"/>
                </a:gradFill>
                <a:effectLst/>
              </a:rPr>
              <a:t>创新特点</a:t>
            </a:r>
            <a:endParaRPr lang="zh-CN" altLang="en-US" sz="2000" dirty="0">
              <a:gradFill>
                <a:gsLst>
                  <a:gs pos="0">
                    <a:schemeClr val="bg1"/>
                  </a:gs>
                  <a:gs pos="100000">
                    <a:schemeClr val="bg1">
                      <a:alpha val="70000"/>
                    </a:schemeClr>
                  </a:gs>
                </a:gsLst>
                <a:lin ang="2700000" scaled="1"/>
              </a:gradFill>
              <a:effectLst/>
            </a:endParaRPr>
          </a:p>
        </p:txBody>
      </p:sp>
      <p:sp>
        <p:nvSpPr>
          <p:cNvPr id="35" name="文本框 34"/>
          <p:cNvSpPr txBox="1"/>
          <p:nvPr>
            <p:custDataLst>
              <p:tags r:id="rId1"/>
            </p:custDataLst>
          </p:nvPr>
        </p:nvSpPr>
        <p:spPr>
          <a:xfrm>
            <a:off x="3994785" y="1475740"/>
            <a:ext cx="1725295" cy="1814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创新新步态：通过编写自定义步态来通过赛段较难部分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蹄形步态通过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限高杆。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9671685" y="4596765"/>
            <a:ext cx="18954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图像信息处理：利用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RGB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相机，识别二维码、箭头、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黄灯，选择正确的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路线。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9" name="图片 38" descr="/Users/xujinhao/Desktop/截屏2024-07-09 16.19.36.png截屏2024-07-09 16.19.3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843" b="2843"/>
          <a:stretch>
            <a:fillRect/>
          </a:stretch>
        </p:blipFill>
        <p:spPr>
          <a:xfrm>
            <a:off x="6501765" y="1476375"/>
            <a:ext cx="2892425" cy="186055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"/>
            </p:custDataLst>
          </p:nvPr>
        </p:nvSpPr>
        <p:spPr>
          <a:xfrm>
            <a:off x="9529445" y="1475740"/>
            <a:ext cx="1895475" cy="198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拓展yaw航偏角：通过roll滚转角接近0或者接近180来判断机器狗在正面或者在后面，将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yaw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拓展至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360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度。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3994150" y="4127500"/>
            <a:ext cx="197167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利用多信息来判断位置选择步态：通过位置信息、二维码、箭头、黄灯识别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结果、状态信息等来指定狗的下一步步态，并开启斜坡检测来检测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斜坡。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274185"/>
            <a:ext cx="3272790" cy="13074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2535" y="4274185"/>
            <a:ext cx="3011805" cy="1612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100" y="1169670"/>
            <a:ext cx="3088640" cy="2474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1.1,&quot;left&quot;:45.75,&quot;top&quot;:116.2,&quot;width&quot;:865.05}"/>
</p:tagLst>
</file>

<file path=ppt/tags/tag2.xml><?xml version="1.0" encoding="utf-8"?>
<p:tagLst xmlns:p="http://schemas.openxmlformats.org/presentationml/2006/main">
  <p:tag name="KSO_WM_DIAGRAM_VIRTUALLY_FRAME" val="{&quot;height&quot;:371.1,&quot;left&quot;:45.75,&quot;top&quot;:116.2,&quot;width&quot;:865.05}"/>
</p:tagLst>
</file>

<file path=ppt/tags/tag3.xml><?xml version="1.0" encoding="utf-8"?>
<p:tagLst xmlns:p="http://schemas.openxmlformats.org/presentationml/2006/main">
  <p:tag name="KSO_WM_DIAGRAM_VIRTUALLY_FRAME" val="{&quot;height&quot;:371.1,&quot;left&quot;:45.75,&quot;top&quot;:116.2,&quot;width&quot;:865.05}"/>
</p:tagLst>
</file>

<file path=ppt/tags/tag4.xml><?xml version="1.0" encoding="utf-8"?>
<p:tagLst xmlns:p="http://schemas.openxmlformats.org/presentationml/2006/main">
  <p:tag name="KSO_WM_DIAGRAM_VIRTUALLY_FRAME" val="{&quot;height&quot;:371.1,&quot;left&quot;:45.75,&quot;top&quot;:116.2,&quot;width&quot;:865.05}"/>
</p:tagLst>
</file>

<file path=ppt/tags/tag5.xml><?xml version="1.0" encoding="utf-8"?>
<p:tagLst xmlns:p="http://schemas.openxmlformats.org/presentationml/2006/main">
  <p:tag name="KSO_WM_DIAGRAM_VIRTUALLY_FRAME" val="{&quot;height&quot;:371.1,&quot;left&quot;:45.75,&quot;top&quot;:116.2,&quot;width&quot;:865.05}"/>
</p:tagLst>
</file>

<file path=ppt/tags/tag6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WPS 演示</Application>
  <PresentationFormat>宽屏</PresentationFormat>
  <Paragraphs>32</Paragraphs>
  <Slides>3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浅忘 .</cp:lastModifiedBy>
  <cp:revision>12</cp:revision>
  <dcterms:created xsi:type="dcterms:W3CDTF">2024-07-09T08:23:00Z</dcterms:created>
  <dcterms:modified xsi:type="dcterms:W3CDTF">2025-05-31T06:48:08Z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B98E3CCB6F6FED787DF38C668441E5A8_42</vt:lpwstr>
  </property>
  <property fmtid="{D5CDD505-2E9C-101B-9397-08002B2CF9AE}" pid="3" name="KSOProductBuildVer">
    <vt:lpwstr>2052-12.1.0.21171</vt:lpwstr>
  </property>
</Properties>
</file>