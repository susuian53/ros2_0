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800" b="1">
                <a:solidFill>
                  <a:srgbClr val="1A2744"/>
                </a:solidFill>
                <a:latin typeface="微软雅黑"/>
              </a:defRPr>
            </a:pPr>
            <a:r>
              <a:t>荒野寻宝 —— 四足机器人全自主导航系统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8288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595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从 3D 模型到自主决策的完整闭环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500" b="0">
                <a:solidFill>
                  <a:srgbClr val="6B7280"/>
                </a:solidFill>
                <a:latin typeface="微软雅黑"/>
              </a:defRPr>
            </a:pPr>
            <a:r>
              <a:t>让 Cyberdog 2 四足机器人在 16m×4m 赛道上全自主完成全部六大赛段 —— 无需人工干预，启动即运行。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200400" cy="21945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4864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1A2744"/>
                </a:solidFill>
                <a:latin typeface="微软雅黑"/>
              </a:defRPr>
            </a:pPr>
            <a:r>
              <a:t>🔍  逆向建模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2834640" cy="229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输入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400" b="1">
                <a:solidFill>
                  <a:srgbClr val="1A2744"/>
                </a:solidFill>
                <a:latin typeface="微软雅黑"/>
              </a:defRPr>
            </a:pPr>
            <a:r>
              <a:t>STL 3D 二进制模型解析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处理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t>▸ 坐标变换 + Y轴分箱聚类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t>▸ 自动提取赛道边界线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产出</a:t>
            </a:r>
            <a:r>
              <a:rPr sz="1200">
                <a:sym typeface="+mn-ea"/>
              </a:rPr>
              <a:t>▸ border_data.json 边界坐标</a:t>
            </a:r>
            <a:endParaRPr sz="1200"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2563EB"/>
                </a:solidFill>
                <a:latin typeface="微软雅黑"/>
              </a:defRPr>
            </a:pPr>
            <a:r>
              <a:t>▸ 赛道地图.png 全貌底图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3200400" cy="2194560"/>
          </a:xfrm>
          <a:prstGeom prst="roundRect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783080"/>
            <a:ext cx="54864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1A2744"/>
                </a:solidFill>
                <a:latin typeface="微软雅黑"/>
              </a:defRPr>
            </a:pPr>
            <a:r>
              <a:t>✏️  路径编辑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24075"/>
            <a:ext cx="3074035" cy="2219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工具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400" b="1">
                <a:solidFill>
                  <a:srgbClr val="1A2744"/>
                </a:solidFill>
                <a:latin typeface="微软雅黑"/>
              </a:defRPr>
            </a:pPr>
            <a:r>
              <a:t>PyQt5 可视化编辑器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  <a:r>
              <a:rPr sz="1100">
                <a:sym typeface="+mn-ea"/>
              </a:rPr>
              <a:t>功能</a:t>
            </a:r>
            <a:endParaRPr sz="1100"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rPr>
                <a:sym typeface="+mn-ea"/>
              </a:rPr>
              <a:t>▸ 地图配准 + 路点拖拽编辑</a:t>
            </a:r>
            <a:endParaRPr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rPr>
                <a:sym typeface="+mn-ea"/>
              </a:rPr>
              <a:t>▸ 3 种插值算法：线性 | Catmull-Rom | 贝塞尔</a:t>
            </a:r>
            <a:endParaRPr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ym typeface="+mn-ea"/>
              </a:rPr>
              <a:t>产出▸ 50+ 关键路点 → 5000+ 稠密路</a:t>
            </a:r>
            <a:r>
              <a:rPr sz="1200">
                <a:sym typeface="+mn-ea"/>
              </a:rPr>
              <a:t>点</a:t>
            </a:r>
            <a:endParaRPr sz="1200"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endParaRPr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0D9488"/>
                </a:solidFill>
                <a:latin typeface="微软雅黑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772400" y="1783080"/>
            <a:ext cx="3200400" cy="219456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78308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18928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1A2744"/>
                </a:solidFill>
                <a:latin typeface="微软雅黑"/>
              </a:defRPr>
            </a:pPr>
            <a:r>
              <a:t>🤖  自主导航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221992"/>
            <a:ext cx="2834640" cy="229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核心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400" b="1">
                <a:solidFill>
                  <a:srgbClr val="1A2744"/>
                </a:solidFill>
                <a:latin typeface="微软雅黑"/>
              </a:defRPr>
            </a:pPr>
            <a:r>
              <a:t>自适应前视追踪算法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步态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t>▸ 7 种封装步态自动切换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334055"/>
                </a:solidFill>
                <a:latin typeface="微软雅黑"/>
              </a:defRPr>
            </a:pPr>
            <a:r>
              <a:t>▸ 赛段识别 → 步态自适应匹配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容错</a:t>
            </a:r>
            <a:r>
              <a:rPr sz="1200">
                <a:sym typeface="+mn-ea"/>
              </a:rPr>
              <a:t>▸ 跌倒检测 · 卡死重试 · 漂移修正</a:t>
            </a:r>
            <a:endParaRPr sz="1200">
              <a:sym typeface="+mn-ea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</a:p>
          <a:p>
            <a:pPr algn="l">
              <a:lnSpc>
                <a:spcPct val="120000"/>
              </a:lnSpc>
              <a:spcBef>
                <a:spcPts val="200"/>
              </a:spcBef>
              <a:defRPr sz="1200" b="0">
                <a:solidFill>
                  <a:srgbClr val="7C3AED"/>
                </a:solidFill>
                <a:latin typeface="微软雅黑"/>
              </a:defRPr>
            </a:pPr>
          </a:p>
        </p:txBody>
      </p:sp>
      <p:sp>
        <p:nvSpPr>
          <p:cNvPr id="19" name="Right Arrow 18"/>
          <p:cNvSpPr/>
          <p:nvPr/>
        </p:nvSpPr>
        <p:spPr>
          <a:xfrm>
            <a:off x="3931920" y="2788920"/>
            <a:ext cx="32004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452360" y="2788920"/>
            <a:ext cx="32004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505456" cy="8229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300" b="1">
                <a:solidFill>
                  <a:srgbClr val="1A2744"/>
                </a:solidFill>
                <a:latin typeface="微软雅黑"/>
              </a:defRPr>
            </a:pPr>
            <a:r>
              <a:t>🗺️  逆向建模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8172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STL → 边界线 → 坐标地图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4408" y="4184015"/>
            <a:ext cx="2505456" cy="822960"/>
          </a:xfrm>
          <a:prstGeom prst="roundRect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8" y="420624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43434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300" b="1">
                <a:solidFill>
                  <a:srgbClr val="1A2744"/>
                </a:solidFill>
                <a:latin typeface="微软雅黑"/>
              </a:defRPr>
            </a:pPr>
            <a:r>
              <a:t>🧭  自适应导航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468172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弯道前视减半 · 步距自适应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73191" y="4196715"/>
            <a:ext cx="2505456" cy="82296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1616" y="420624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43434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300" b="1">
                <a:solidFill>
                  <a:srgbClr val="1A2744"/>
                </a:solidFill>
                <a:latin typeface="微软雅黑"/>
              </a:defRPr>
            </a:pPr>
            <a:r>
              <a:t>🦿  多模式步态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468172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7 种封装步态自动切换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1664" y="4206240"/>
            <a:ext cx="2505456" cy="8229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41664" y="4206240"/>
            <a:ext cx="54864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78824" y="43434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300" b="1">
                <a:solidFill>
                  <a:srgbClr val="1A2744"/>
                </a:solidFill>
                <a:latin typeface="微软雅黑"/>
              </a:defRPr>
            </a:pPr>
            <a:r>
              <a:t>🛡️  三层防滑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468172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壁虎步态 + 力控 + 漂移修正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85232"/>
            <a:ext cx="10515600" cy="365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~4300 行自主代码    ·    7 种步态    ·    6 赛段全自主    ·    50+ 关键路点    ·    5000+ 稠密路点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800" b="1">
                <a:solidFill>
                  <a:srgbClr val="1A2744"/>
                </a:solidFill>
                <a:latin typeface="微软雅黑"/>
              </a:defRPr>
            </a:pPr>
            <a:r>
              <a:t>三个核心技术挑战与解决方案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8288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515600" cy="17556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54864" cy="17556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320040" cy="320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700" b="1">
                <a:solidFill>
                  <a:srgbClr val="1A2744"/>
                </a:solidFill>
                <a:latin typeface="微软雅黑"/>
              </a:defRPr>
            </a:pPr>
            <a:r>
              <a:t>30° 斜坡防滑（第五赛段）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EA580C"/>
                </a:solidFill>
                <a:latin typeface="微软雅黑"/>
              </a:defRPr>
            </a:pPr>
            <a:r>
              <a:t>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四足机器人在 30° 斜面上极易滑落，一旦跌落整段重来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01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0D9488"/>
                </a:solidFill>
                <a:latin typeface="微软雅黑"/>
              </a:defRPr>
            </a:pPr>
            <a: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3911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三层防护：壁虎爬行步态（≥3 腿支撑 + Z 字足端）→ IMU 反馈逆补偿力（100 N/rad）→ 分段漂移在线修正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801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03911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漂移检测用雅可比变换将世界坐标滑移分解为前滑 / 侧滑分量，针对性补偿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715768"/>
            <a:ext cx="10241280" cy="21945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52344"/>
            <a:ext cx="9966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800" b="0">
                <a:solidFill>
                  <a:srgbClr val="A5D6A7"/>
                </a:solidFill>
                <a:latin typeface="Consolas"/>
              </a:defRPr>
            </a:pPr>
            <a:r>
              <a:t>壁虎步态：≥3腿支撑  |  IMU力控：fx=−100·sin(pitch)  |  在线修正：前滑&gt;3mm回拉、侧偏&gt;2cm补偿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27248"/>
            <a:ext cx="10515600" cy="175564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27248"/>
            <a:ext cx="54864" cy="17556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26440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700" b="1">
                <a:solidFill>
                  <a:srgbClr val="1A2744"/>
                </a:solidFill>
                <a:latin typeface="微软雅黑"/>
              </a:defRPr>
            </a:pPr>
            <a:r>
              <a:t>狭窄空间推球入框（第六赛段）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69417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EA580C"/>
                </a:solidFill>
                <a:latin typeface="微软雅黑"/>
              </a:defRPr>
            </a:pPr>
            <a:r>
              <a:t>难点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高墙之间无法正面推球，后腿会卡墙，必须侧身操作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9417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0D9488"/>
                </a:solidFill>
                <a:latin typeface="微软雅黑"/>
              </a:defRPr>
            </a:pPr>
            <a:r>
              <a:t>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319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2 层 11 子阶段状态机："70°→40°→0°" 逐段 yaw 变向，从侧身逐步转为正向推球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69417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亮点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9319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转不动自动后退 5cm 重试 + 转身前向外踢腿腾出空间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608576"/>
            <a:ext cx="10241280" cy="21945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45152"/>
            <a:ext cx="9966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800" b="0">
                <a:solidFill>
                  <a:srgbClr val="A5D6A7"/>
                </a:solidFill>
                <a:latin typeface="Consolas"/>
              </a:defRPr>
            </a:pPr>
            <a:r>
              <a:t>Phase 0：START2→A1  |  Phase 1：子阶段3 ★70°→40°→0°逐段推球  |  稳球20s → 寻路 → 终点趴下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20056"/>
            <a:ext cx="10515600" cy="1755648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020056"/>
            <a:ext cx="54864" cy="17556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157216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75504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700" b="1">
                <a:solidFill>
                  <a:srgbClr val="1A2744"/>
                </a:solidFill>
                <a:latin typeface="微软雅黑"/>
              </a:defRPr>
            </a:pPr>
            <a:r>
              <a:t>赛道逆向建模（赛前准备）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58698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EA580C"/>
                </a:solidFill>
                <a:latin typeface="微软雅黑"/>
              </a:defRPr>
            </a:pPr>
            <a: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82472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赛题只提供 STL 3D 模型文件，没有任何世界坐标信息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58698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0D9488"/>
                </a:solidFill>
                <a:latin typeface="微软雅黑"/>
              </a:defRPr>
            </a:pPr>
            <a:r>
              <a:t>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82472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自研工具链：STL 二进制解析 + 坐标变换 + Y 轴分箱聚类 → 边界线 → 手动精密测绘全部物体 → 可视化编辑器配准底图编辑路点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558698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亮点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582472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334055"/>
                </a:solidFill>
                <a:latin typeface="微软雅黑"/>
              </a:defRPr>
            </a:pPr>
            <a:r>
              <a:t>从零搭建完整逆向建模管线，不依赖任何第三方地图生成工具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6501384"/>
            <a:ext cx="10241280" cy="21945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6537960"/>
            <a:ext cx="9966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800" b="0">
                <a:solidFill>
                  <a:srgbClr val="A5D6A7"/>
                </a:solidFill>
                <a:latin typeface="Consolas"/>
              </a:defRPr>
            </a:pPr>
            <a:r>
              <a:t>产出：border_data.json  |  赛道地图.png（200 dpi）  |  path_config.py 50+ 关键路点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800" b="1">
                <a:solidFill>
                  <a:srgbClr val="1A2744"/>
                </a:solidFill>
                <a:latin typeface="微软雅黑"/>
              </a:defRPr>
            </a:pPr>
            <a:r>
              <a:t>六赛段全自主完成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8288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赛道地图_高精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865" y="1188720"/>
            <a:ext cx="130091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3387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▲ 赛道全貌（200 dpi）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1704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700" b="1">
                <a:solidFill>
                  <a:srgbClr val="1A2744"/>
                </a:solidFill>
                <a:latin typeface="微软雅黑"/>
              </a:defRPr>
            </a:pPr>
            <a:r>
              <a:t>赛道关键数据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20640" y="1536192"/>
          <a:ext cx="6583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6459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赛段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核心挑战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关键参数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S1 石径探路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backward → 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背身起步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target + 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S2 荒野寻珠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撞击橙色球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0.22 m/s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S3 曲道冲锋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forward + 弯道自适应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曲线循迹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L = 0.25 / 0.50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S4 深隧寻珍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crouch + forward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40 cm 限高杆匍匐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pos_z = 0.12 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A580C"/>
                          </a:solidFill>
                          <a:latin typeface="微软雅黑"/>
                        </a:defRPr>
                      </a:pPr>
                      <a:r>
                        <a:t>S5 孤梁稳渡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A580C"/>
                          </a:solidFill>
                          <a:latin typeface="微软雅黑"/>
                        </a:defRPr>
                      </a:pPr>
                      <a:r>
                        <a:t>high_fwd → slope → jump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A580C"/>
                          </a:solidFill>
                          <a:latin typeface="微软雅黑"/>
                        </a:defRPr>
                      </a:pPr>
                      <a:r>
                        <a:t>独木桥 + 30° 斜坡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A580C"/>
                          </a:solidFill>
                          <a:latin typeface="微软雅黑"/>
                        </a:defRPr>
                      </a:pPr>
                      <a:r>
                        <a:t>三层防滑 ⚠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S6 撷金建功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LOW run + 状态机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推球入框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微软雅黑"/>
                        </a:defRPr>
                      </a:pPr>
                      <a:r>
                        <a:t>70° → 40° → 0°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120640" y="4480560"/>
            <a:ext cx="6583680" cy="12801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4480560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4617720"/>
            <a:ext cx="6035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800" b="1">
                <a:solidFill>
                  <a:srgbClr val="1A2744"/>
                </a:solidFill>
                <a:latin typeface="微软雅黑"/>
              </a:defRPr>
            </a:pPr>
            <a:r>
              <a:t>从 STL 模型到自主导航的完整闭环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defRPr sz="600" b="0">
                <a:solidFill>
                  <a:srgbClr val="334055"/>
                </a:solidFill>
                <a:latin typeface="微软雅黑"/>
              </a:defRPr>
            </a:pPr>
          </a:p>
          <a:p>
            <a:pPr algn="l">
              <a:lnSpc>
                <a:spcPct val="130000"/>
              </a:lnSpc>
              <a:spcBef>
                <a:spcPts val="200"/>
              </a:spcBef>
              <a:defRPr sz="1300" b="0">
                <a:solidFill>
                  <a:srgbClr val="334055"/>
                </a:solidFill>
                <a:latin typeface="微软雅黑"/>
              </a:defRPr>
            </a:pPr>
            <a:r>
              <a:t>4600+ 行自主代码，覆盖逆向建模、可视化编辑、自适应导航、多模式步态、异常自恢复。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defRPr sz="1300" b="0">
                <a:solidFill>
                  <a:srgbClr val="334055"/>
                </a:solidFill>
                <a:latin typeface="微软雅黑"/>
              </a:defRPr>
            </a:pPr>
            <a:r>
              <a:t>实现 Cyberdog 2 四足机器人在 16m 赛道上全自主完成六大赛段挑战。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参赛题目：荒野寻宝    ·    技术平台：Cyberdog 2 + Gazebo 11 + ROS2 Galactic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WPS 演示</Application>
  <PresentationFormat>On-screen Show (4:3)</PresentationFormat>
  <Paragraphs>193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0" baseType="lpstr">
      <vt:lpstr>Arial</vt:lpstr>
      <vt:lpstr>宋体</vt:lpstr>
      <vt:lpstr>Wingdings</vt:lpstr>
      <vt:lpstr>Arial</vt:lpstr>
      <vt:lpstr>DejaVu Sans</vt:lpstr>
      <vt:lpstr>微软雅黑</vt:lpstr>
      <vt:lpstr>Droid Sans Fallback</vt:lpstr>
      <vt:lpstr>Consolas</vt:lpstr>
      <vt:lpstr>Calibri</vt:lpstr>
      <vt:lpstr>宋体</vt:lpstr>
      <vt:lpstr>Noto Serif CJK SC</vt:lpstr>
      <vt:lpstr>Noto Color Emoji</vt:lpstr>
      <vt:lpstr>微软雅黑</vt:lpstr>
      <vt:lpstr>Arial Unicode MS</vt:lpstr>
      <vt:lpstr>MS PGothic</vt:lpstr>
      <vt:lpstr>C059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梦之蓝</cp:lastModifiedBy>
  <cp:revision>2</cp:revision>
  <dcterms:created xsi:type="dcterms:W3CDTF">2026-05-29T14:48:07Z</dcterms:created>
  <dcterms:modified xsi:type="dcterms:W3CDTF">2026-05-29T14:48:07Z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4DC2CB54E306F78D27A7196A48CFF8C0_42</vt:lpwstr>
  </property>
  <property fmtid="{D5CDD505-2E9C-101B-9397-08002B2CF9AE}" pid="3" name="KSOProductBuildVer">
    <vt:lpwstr>2052-12.1.2.25882</vt:lpwstr>
  </property>
</Properties>
</file>